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8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832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projet : application web de gestion academique multi-roles. Equipe de 3, encadrement triple. Stack moderne.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contexte marocain : Massar est reserve au public, Pronote trop couteux, pas de solution adaptee pour les ecoles privees.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FBDEE-704D-50D4-0C99-8787CE2A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FFFB4-D0C7-3899-D0AA-3F12836C0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E70FA-0A0E-3C3D-8EE4-4F7C9F24E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80684-3958-D0FA-7E4F-CD75C9D49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40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par la question de demonstration : montrer l'application en direct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7680960" y="-457200"/>
            <a:ext cx="1828800" cy="182880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EMSI — 4DSI / 2025-2026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PROJET DE FIN D'ANNEE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Academique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Etudiants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Multi-Roles : Etudiant · Professeur · Administration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2286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 par 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Ayoub Ezziani, Yasser Mohdiq, Aymen Haska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 par 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 NAJI Zineb, Mme BOUSMAR Khadija, Mme BENYAHYA Zineb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presentation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Problematique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Technologies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06324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Conception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594360" y="39319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93192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des espaces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3258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4983480" y="132588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132588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Resultats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0" name="Text 18"/>
          <p:cNvSpPr/>
          <p:nvPr/>
        </p:nvSpPr>
        <p:spPr>
          <a:xfrm>
            <a:off x="4983480" y="21945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32120" y="219456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0632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4983480" y="30632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306324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Entrepreneuriat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9319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6" name="Text 24"/>
          <p:cNvSpPr/>
          <p:nvPr/>
        </p:nvSpPr>
        <p:spPr>
          <a:xfrm>
            <a:off x="4983480" y="39319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393192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 &amp; PROBLEMATIQUE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 projet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dispersees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 papier, tableurs non partages, communications informelles — aucune source de verite unique.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544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visibilite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7472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etudiants n'ont acces a leurs notes et absences qu'en classe, hors de tout systeme centralise.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5544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lourdes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0936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 des notes, justificatifs papier, reunions non tracees — perte de temps considerable.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SOLUTION &amp; TECHNOLOGIES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solution et stack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8191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356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Etudiant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25880" y="1801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absences, cours, emploi du temps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51460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7063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24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Professeur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25880" y="2990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Appel, notes, partage de ressources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70332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5935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8130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Administration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325880" y="4178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globale, reunions, justificatifs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937760" y="132588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272" y="14630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20025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937760" y="22951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+ API Routes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949440" y="132588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146304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49440" y="20025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949440" y="22951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BaaS, temps reel, auth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012180" y="2898648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7980" y="2956757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12180" y="3466461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012180" y="3832221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PDF + CDN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457200" y="4768596"/>
            <a:ext cx="4206240" cy="347472"/>
          </a:xfrm>
          <a:prstGeom prst="roundRect">
            <a:avLst>
              <a:gd name="adj" fmla="val 15789"/>
            </a:avLst>
          </a:prstGeom>
          <a:solidFill>
            <a:srgbClr val="1E2B63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3" name="Text 24"/>
          <p:cNvSpPr/>
          <p:nvPr/>
        </p:nvSpPr>
        <p:spPr>
          <a:xfrm>
            <a:off x="457200" y="4762697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par code unique par role — aucun email requis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ARCHITECTURE &amp; CONCEPTION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4 couches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2801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 (navigateur)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5303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14884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Next.js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62072"/>
            <a:ext cx="5303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301752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(NoSQL)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5303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38862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— fichiers PDF/CDN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1234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1645920"/>
            <a:ext cx="2880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Cloisonnement strict par role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 de securite Firestore cote serveur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: pas d'infrastructure a gerer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Disponibilite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99,9% et scalabilite auto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3D05A8-4B81-640C-625F-1B92DF645559}"/>
              </a:ext>
            </a:extLst>
          </p:cNvPr>
          <p:cNvSpPr txBox="1"/>
          <p:nvPr/>
        </p:nvSpPr>
        <p:spPr>
          <a:xfrm>
            <a:off x="253160" y="24986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Diagramme Classes</a:t>
            </a:r>
            <a:endParaRPr lang="fr-M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1031A-9AA9-07D5-7226-33AFF275F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74" y="860742"/>
            <a:ext cx="6494487" cy="385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07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FONCTIONNALITES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espaces de l'application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88920" cy="658368"/>
          </a:xfrm>
          <a:prstGeom prst="roundRect">
            <a:avLst>
              <a:gd name="adj" fmla="val 1388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35024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344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993392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 du temps hebdomadaire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Releve de notes + bulletin PDF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et devoirs (PDF)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absences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des controles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disciplinaire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18688" y="123444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Shape 7"/>
          <p:cNvSpPr/>
          <p:nvPr/>
        </p:nvSpPr>
        <p:spPr>
          <a:xfrm>
            <a:off x="3218688" y="1234440"/>
            <a:ext cx="2788920" cy="658368"/>
          </a:xfrm>
          <a:prstGeom prst="roundRect">
            <a:avLst>
              <a:gd name="adj" fmla="val 138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335024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77056" y="12344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Professeur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55848" y="1993392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par classe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notes CC + examen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journalier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ressources PDF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rapports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reunions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123444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Shape 11"/>
          <p:cNvSpPr/>
          <p:nvPr/>
        </p:nvSpPr>
        <p:spPr>
          <a:xfrm>
            <a:off x="6163056" y="1234440"/>
            <a:ext cx="2788920" cy="658368"/>
          </a:xfrm>
          <a:prstGeom prst="roundRect">
            <a:avLst>
              <a:gd name="adj" fmla="val 1388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335024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21424" y="12344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0216" y="1993392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tous utilisateurs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profs / modules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reunions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rapports parents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justificatifs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Gerer evenements/vacances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TESTS &amp; 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et resultats de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7510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de test executes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42032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2542032" y="12984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42032" y="197510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succes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4626864" y="12984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&lt;300ms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197510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Firestore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11696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6711696" y="12984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11696" y="197510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Cloudinary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couverts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73552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0120" y="345643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valide/invalide, redirection par role, acces protege sans session</a:t>
            </a:r>
            <a:endParaRPr lang="en-US" sz="10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73552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4924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Firestore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349240" y="345643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Lecture/ecriture notes, appel, justificatifs — reflet instantane</a:t>
            </a:r>
            <a:endParaRPr lang="en-US" sz="10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42232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120" y="3977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60120" y="432511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→ URL CDN generee → telechargeable par etudiant</a:t>
            </a:r>
            <a:endParaRPr lang="en-US" sz="10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142232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49240" y="3977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limites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349240" y="432511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manquantes, champs vides, acces role incorrect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>
            <a:extLst>
              <a:ext uri="{FF2B5EF4-FFF2-40B4-BE49-F238E27FC236}">
                <a16:creationId xmlns:a16="http://schemas.microsoft.com/office/drawing/2014/main" id="{86B67957-B324-6D80-3774-C9038F1CEC9F}"/>
              </a:ext>
            </a:extLst>
          </p:cNvPr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GESTION DE PROJET</a:t>
            </a:r>
            <a:endParaRPr lang="en-US" sz="9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B9B0C9-9E70-491B-49A1-8B1A8DD15BFA}"/>
              </a:ext>
            </a:extLst>
          </p:cNvPr>
          <p:cNvSpPr txBox="1"/>
          <p:nvPr/>
        </p:nvSpPr>
        <p:spPr>
          <a:xfrm>
            <a:off x="361336" y="629386"/>
            <a:ext cx="4468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3200" dirty="0">
                <a:solidFill>
                  <a:schemeClr val="bg1"/>
                </a:solidFill>
              </a:rPr>
              <a:t>Diagramme de Gantt</a:t>
            </a:r>
            <a:endParaRPr lang="fr-MA" sz="3200" dirty="0">
              <a:solidFill>
                <a:schemeClr val="bg1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2A8E067-DA2A-C23A-2BDE-18E96E0B6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48613"/>
            <a:ext cx="7020232" cy="37940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PARTIE ENTREPRENEURIAT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commerciale de la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1A2356"/>
          </a:solidFill>
          <a:ln w="12700">
            <a:solidFill>
              <a:srgbClr val="1A2356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SaaS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annuelle par etablissement
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300 etu :  </a:t>
            </a: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8 000 MAD/an
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301-800 etu : </a:t>
            </a: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MAD/an
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800 etu :  </a:t>
            </a: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MAD/an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310128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968496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3401568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8 640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3968496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investissement initial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0" y="3401568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client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3968496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rentabilite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12618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6916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0B981">
              <a:alpha val="12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4846320" y="17282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03911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 au Maroc · Stack moderne · Deploiement immediat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16916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F4444">
              <a:alpha val="12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6858000" y="17282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49440" y="203911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sans reference · Dependance cloud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8803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3B82F6">
              <a:alpha val="12000"/>
            </a:srgbClr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2" name="Text 20"/>
          <p:cNvSpPr/>
          <p:nvPr/>
        </p:nvSpPr>
        <p:spPr>
          <a:xfrm>
            <a:off x="4846320" y="29169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322783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900+ ecoles privees · EdTech en croissance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0" y="28803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5" name="Text 23"/>
          <p:cNvSpPr/>
          <p:nvPr/>
        </p:nvSpPr>
        <p:spPr>
          <a:xfrm>
            <a:off x="6858000" y="29169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49440" y="322783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vente long · Resistance au changement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411480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EF2FF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215384"/>
            <a:ext cx="384048" cy="38404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486400" y="411480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juridique : SARL · Conformite CNDP (loi 09-08)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DC99A7-3BBF-1A4E-8AB3-6DC33A3A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44D233-74C3-1294-9579-1F0715823DAC}"/>
              </a:ext>
            </a:extLst>
          </p:cNvPr>
          <p:cNvSpPr txBox="1"/>
          <p:nvPr/>
        </p:nvSpPr>
        <p:spPr>
          <a:xfrm>
            <a:off x="4646037" y="554983"/>
            <a:ext cx="4001197" cy="22531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>
                <a:latin typeface="+mj-lt"/>
                <a:ea typeface="+mj-ea"/>
                <a:cs typeface="+mj-cs"/>
              </a:rPr>
              <a:t>Réalisation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7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61789" y="0"/>
            <a:ext cx="1303050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18718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73320" y="4288429"/>
            <a:ext cx="1328707" cy="855071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2" name="Image 5" descr="preencoded.png">
            <a:extLst>
              <a:ext uri="{FF2B5EF4-FFF2-40B4-BE49-F238E27FC236}">
                <a16:creationId xmlns:a16="http://schemas.microsoft.com/office/drawing/2014/main" id="{90460015-DEC8-8F73-2601-8A4B82EBB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2"/>
          <a:stretch>
            <a:fillRect/>
          </a:stretch>
        </p:blipFill>
        <p:spPr>
          <a:xfrm>
            <a:off x="473880" y="449040"/>
            <a:ext cx="3883686" cy="3883686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390384" y="4694067"/>
            <a:ext cx="1174455" cy="449433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925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CONCLUSION &amp; PERSPECTIVES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et perspectives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38988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espaces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42032" y="12801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1389888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42032" y="1965960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securisee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code unique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626864" y="12801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76" y="1389888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26864" y="1965960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Cloudinary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711696" y="12801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253070"/>
          </a:solidFill>
          <a:ln w="12700">
            <a:solidFill>
              <a:srgbClr val="1E2B6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208" y="1389888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11696" y="1965960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 Au Future)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futures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456432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9264" y="333756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statistiques &amp; BI pour l'administration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456432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12664" y="333756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React Native / Expo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69664"/>
            <a:ext cx="384048" cy="38404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69264" y="405079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parent dedie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169664"/>
            <a:ext cx="384048" cy="38404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12664" y="405079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vers d'autres pays francophones d'Afrique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7498080" y="-914400"/>
            <a:ext cx="2743200" cy="2743200"/>
          </a:xfrm>
          <a:prstGeom prst="ellipse">
            <a:avLst/>
          </a:prstGeom>
          <a:solidFill>
            <a:srgbClr val="60A5FA">
              <a:alpha val="15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0848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Ayoub Ezziani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5584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Yasser Mohdiq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39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Aymen Haska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EMSI — 4DSI —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693</Words>
  <Application>Microsoft Office PowerPoint</Application>
  <PresentationFormat>On-screen Show (16:9)</PresentationFormat>
  <Paragraphs>168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Academique des Etudiants</dc:title>
  <dc:subject>PptxGenJS Presentation</dc:subject>
  <dc:creator>Ayoub Ezziani, Yasser Mohdiq, Aymen Haska</dc:creator>
  <cp:lastModifiedBy>Ayoub Ezziani</cp:lastModifiedBy>
  <cp:revision>3</cp:revision>
  <dcterms:created xsi:type="dcterms:W3CDTF">2026-06-22T10:47:56Z</dcterms:created>
  <dcterms:modified xsi:type="dcterms:W3CDTF">2026-06-23T17:09:24Z</dcterms:modified>
</cp:coreProperties>
</file>