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le projet : application web de gestion academique multi-roles. Equipe de 3, encadrement triple. Stack moderne.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le contexte marocain : Massar est reserve au public, Pronote trop couteux, pas de solution adaptee pour les ecoles privees.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Conclure par la question de demonstration : montrer l'application en direct si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0" y="-457200"/>
            <a:ext cx="1828800" cy="1828800"/>
          </a:xfrm>
          <a:prstGeom prst="ellipse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EMSI — 4DSI / 2025-2026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DE PROJET DE FIN D'ANNEE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 Academique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Etudiants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Multi-Roles : Etudiant · Professeur · Administration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2286000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7033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Realise par :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Ayoub Ezziani, Yasser Mohdiq, Aymen Haska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4023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 par 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Mme NAJI Zineb, Mme BOUSMAR Khadija, Mme BENYAHYA Zineb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663440"/>
            <a:ext cx="1828800" cy="320040"/>
          </a:xfrm>
          <a:prstGeom prst="roundRect">
            <a:avLst>
              <a:gd name="adj" fmla="val 17143"/>
            </a:avLst>
          </a:prstGeom>
          <a:solidFill>
            <a:srgbClr val="253070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663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68880" y="4663440"/>
            <a:ext cx="1828800" cy="320040"/>
          </a:xfrm>
          <a:prstGeom prst="roundRect">
            <a:avLst>
              <a:gd name="adj" fmla="val 17143"/>
            </a:avLst>
          </a:prstGeom>
          <a:solidFill>
            <a:srgbClr val="253070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4663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80560" y="4663440"/>
            <a:ext cx="1828800" cy="320040"/>
          </a:xfrm>
          <a:prstGeom prst="roundRect">
            <a:avLst>
              <a:gd name="adj" fmla="val 17143"/>
            </a:avLst>
          </a:prstGeom>
          <a:solidFill>
            <a:srgbClr val="253070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4663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92240" y="4663440"/>
            <a:ext cx="1828800" cy="320040"/>
          </a:xfrm>
          <a:prstGeom prst="roundRect">
            <a:avLst>
              <a:gd name="adj" fmla="val 17143"/>
            </a:avLst>
          </a:prstGeom>
          <a:solidFill>
            <a:srgbClr val="253070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4663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3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la presentation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325880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1325880"/>
            <a:ext cx="3246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Problematique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94560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2194560"/>
            <a:ext cx="3246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Technologies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3063240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3063240"/>
            <a:ext cx="3246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Conception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931920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43000" y="3931920"/>
            <a:ext cx="3246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des espaces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32588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83480" y="1325880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532120" y="1325880"/>
            <a:ext cx="3246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Resultats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46320" y="219456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983480" y="2194560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532120" y="2194560"/>
            <a:ext cx="3246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projet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46320" y="306324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83480" y="3063240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532120" y="3063240"/>
            <a:ext cx="3246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Entrepreneuriat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983480" y="3931920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532120" y="3931920"/>
            <a:ext cx="3246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CONTEXTE &amp; PROBLEMATIQUE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ce projet 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D1D9E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240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dispersees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Registres papier, tableurs non partages, communications informelles — aucune source de verite unique.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D1D9E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554480"/>
            <a:ext cx="548640" cy="548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291840" y="2240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visibilite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474720" y="27432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etudiants n'ont acces a leurs notes et absences qu'en classe, hors de tout systeme centralise.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26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D1D9E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55448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26480" y="2240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 lourdes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309360" y="27432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manuelle des notes, justificatifs papier, reunions non tracees — perte de temps considerable.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4617720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3B82F6">
              <a:alpha val="9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Besoin d'une plateforme numerique unifiee, securisee et adaptee au contexte marocain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3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SOLUTION &amp; TECHNOLOGIES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Notre solution et stack technique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81912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43560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Etudiant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325880" y="180136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Notes, absences, cours, emploi du temps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70632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262432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Professeur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325880" y="29900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Appel, notes, partage de ressources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70332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59352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38130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Administration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325880" y="4178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globale, reunions, justificatifs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937760" y="1325880"/>
            <a:ext cx="1874520" cy="1280160"/>
          </a:xfrm>
          <a:prstGeom prst="roundRect">
            <a:avLst>
              <a:gd name="adj" fmla="val 7143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272" y="146304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937760" y="200253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4937760" y="229514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 + API Routes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949440" y="1325880"/>
            <a:ext cx="1874520" cy="1280160"/>
          </a:xfrm>
          <a:prstGeom prst="roundRect">
            <a:avLst>
              <a:gd name="adj" fmla="val 7143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6952" y="146304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949440" y="200253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Firestore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6949440" y="229514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BaaS, temps reel, auth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4937760" y="2834640"/>
            <a:ext cx="1874520" cy="1280160"/>
          </a:xfrm>
          <a:prstGeom prst="roundRect">
            <a:avLst>
              <a:gd name="adj" fmla="val 7143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5272" y="297180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937760" y="351129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4937760" y="380390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PDF + CDN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6949440" y="2834640"/>
            <a:ext cx="1874520" cy="1280160"/>
          </a:xfrm>
          <a:prstGeom prst="roundRect">
            <a:avLst>
              <a:gd name="adj" fmla="val 7143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6952" y="2971800"/>
            <a:ext cx="502920" cy="5029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949440" y="351129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6949440" y="380390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Deploiement serverless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457200" y="4617720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1E2B63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457200" y="461772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 par code unique par role — aucun email requis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ARCHITECTURE &amp; CONCEPTION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en 4 couches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3B82F6">
              <a:alpha val="1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1280160" cy="713232"/>
          </a:xfrm>
          <a:prstGeom prst="roundRect">
            <a:avLst>
              <a:gd name="adj" fmla="val 1025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74520" y="1280160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/ Next.js (navigateur)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53035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8B5CF6">
              <a:alpha val="1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148840"/>
            <a:ext cx="1280160" cy="713232"/>
          </a:xfrm>
          <a:prstGeom prst="roundRect">
            <a:avLst>
              <a:gd name="adj" fmla="val 10256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48840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74520" y="2148840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Routes Next.js (Vercel)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862072"/>
            <a:ext cx="53035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10B981">
              <a:alpha val="12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017520"/>
            <a:ext cx="1280160" cy="713232"/>
          </a:xfrm>
          <a:prstGeom prst="roundRect">
            <a:avLst>
              <a:gd name="adj" fmla="val 1025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017520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74520" y="3017520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Firestore (NoSQL)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730752"/>
            <a:ext cx="53035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886200"/>
            <a:ext cx="1280160" cy="713232"/>
          </a:xfrm>
          <a:prstGeom prst="roundRect">
            <a:avLst>
              <a:gd name="adj" fmla="val 1025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886200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74520" y="3886200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 — fichiers PDF/CDN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35040" y="1234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cles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1645920"/>
            <a:ext cx="28803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Cloisonnement strict par role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Regles de securite Firestore cote serveur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: pas d'infrastructure a gerer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Deploiement automatique via GitHub → Vercel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Disponibilite 99,9% et scalabilite auto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3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FONCTIONNALITES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3 espaces de l'application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234440"/>
            <a:ext cx="2788920" cy="3749040"/>
          </a:xfrm>
          <a:prstGeom prst="roundRect">
            <a:avLst>
              <a:gd name="adj" fmla="val 3279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234440"/>
            <a:ext cx="2788920" cy="658368"/>
          </a:xfrm>
          <a:prstGeom prst="roundRect">
            <a:avLst>
              <a:gd name="adj" fmla="val 1388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35024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1234440"/>
            <a:ext cx="2011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Etudiant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1993392"/>
            <a:ext cx="2514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Emploi du temps hebdomadaire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Releve de notes + bulletin PDF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 et devoirs (PDF)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des absences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des controles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disciplinaire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18688" y="1234440"/>
            <a:ext cx="2788920" cy="3749040"/>
          </a:xfrm>
          <a:prstGeom prst="roundRect">
            <a:avLst>
              <a:gd name="adj" fmla="val 3279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18688" y="1234440"/>
            <a:ext cx="2788920" cy="658368"/>
          </a:xfrm>
          <a:prstGeom prst="roundRect">
            <a:avLst>
              <a:gd name="adj" fmla="val 13889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335024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77056" y="1234440"/>
            <a:ext cx="2011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Professeur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355848" y="1993392"/>
            <a:ext cx="2514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par classe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notes CC + examen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 journalier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ressources PDF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Soumettre rapports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reunions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63056" y="1234440"/>
            <a:ext cx="2788920" cy="3749040"/>
          </a:xfrm>
          <a:prstGeom prst="roundRect">
            <a:avLst>
              <a:gd name="adj" fmla="val 3279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163056" y="1234440"/>
            <a:ext cx="2788920" cy="658368"/>
          </a:xfrm>
          <a:prstGeom prst="roundRect">
            <a:avLst>
              <a:gd name="adj" fmla="val 13889"/>
            </a:avLst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335024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21424" y="1234440"/>
            <a:ext cx="2011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300216" y="1993392"/>
            <a:ext cx="2514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tous utilisateurs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profs / modules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Planifier reunions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Traiter rapports parents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Creer justificatifs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Gerer evenements/vacances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TESTS &amp; VALIDATION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et resultats de validation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98448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975104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de test executes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42032" y="128016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42032" y="1298448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542032" y="1975104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succes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26864" y="128016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8B5CF6">
              <a:alpha val="1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298448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&lt;300ms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26864" y="1975104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Latence Firestore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11696" y="128016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1696" y="1298448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&lt;4s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711696" y="1975104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 Cloudinary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couverts</a:t>
            </a:r>
            <a:endParaRPr lang="en-US" sz="1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73552"/>
            <a:ext cx="384048" cy="38404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960120" y="3108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0120" y="345643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valide/invalide, redirection par role, acces protege sans session</a:t>
            </a:r>
            <a:endParaRPr lang="en-US" sz="10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273552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349240" y="3108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Firestore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5349240" y="345643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Lecture/ecriture notes, appel, justificatifs — reflet instantane</a:t>
            </a:r>
            <a:endParaRPr lang="en-US" sz="10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42232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960120" y="39776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960120" y="432511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 → URL CDN generee → telechargeable par etudiant</a:t>
            </a:r>
            <a:endParaRPr lang="en-US" sz="105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4142232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349240" y="39776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limites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5349240" y="432511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manquantes, champs vides, acces role incorrect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3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GESTION DE PROJET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Planification et organisation de l'equipe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" y="1298448"/>
            <a:ext cx="777240" cy="7772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29844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801368" y="1627632"/>
            <a:ext cx="713232" cy="109728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212848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1143000" cy="292608"/>
          </a:xfrm>
          <a:prstGeom prst="roundRect">
            <a:avLst>
              <a:gd name="adj" fmla="val 15625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3464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1298448"/>
            <a:ext cx="777240" cy="7772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54680" y="129844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950208" y="1627632"/>
            <a:ext cx="713232" cy="109728"/>
          </a:xfrm>
          <a:prstGeom prst="rect">
            <a:avLst/>
          </a:prstGeom>
          <a:solidFill>
            <a:srgbClr val="10B981">
              <a:alpha val="4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14600" y="2212848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Developpement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71800" y="2834640"/>
            <a:ext cx="1143000" cy="292608"/>
          </a:xfrm>
          <a:prstGeom prst="roundRect">
            <a:avLst>
              <a:gd name="adj" fmla="val 15625"/>
            </a:avLst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71800" y="283464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S2-S3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03520" y="1298448"/>
            <a:ext cx="777240" cy="7772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0" y="129844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099048" y="1627632"/>
            <a:ext cx="713232" cy="109728"/>
          </a:xfrm>
          <a:prstGeom prst="rect">
            <a:avLst/>
          </a:prstGeom>
          <a:solidFill>
            <a:srgbClr val="F59E0B">
              <a:alpha val="4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212848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Tests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120640" y="2834640"/>
            <a:ext cx="1143000" cy="292608"/>
          </a:xfrm>
          <a:prstGeom prst="roundRect">
            <a:avLst>
              <a:gd name="adj" fmla="val 15625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0" y="283464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52360" y="1298448"/>
            <a:ext cx="777240" cy="777240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129844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12280" y="2212848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Deploiement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269480" y="2834640"/>
            <a:ext cx="1143000" cy="292608"/>
          </a:xfrm>
          <a:prstGeom prst="roundRect">
            <a:avLst>
              <a:gd name="adj" fmla="val 15625"/>
            </a:avLst>
          </a:prstGeom>
          <a:solidFill>
            <a:srgbClr val="F472B6">
              <a:alpha val="20000"/>
            </a:srgbClr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283464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33375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5760" y="3767328"/>
            <a:ext cx="8412480" cy="365760"/>
          </a:xfrm>
          <a:prstGeom prst="roundRect">
            <a:avLst>
              <a:gd name="adj" fmla="val 15000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767328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7673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Ayoub Ezziani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103120" y="37673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Firebase · Espace Professeur · Integration · Deploiement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5760" y="4197096"/>
            <a:ext cx="8412480" cy="365760"/>
          </a:xfrm>
          <a:prstGeom prst="roundRect">
            <a:avLst>
              <a:gd name="adj" fmla="val 15000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4197096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197096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Yasser Mohdiq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103120" y="4197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Administration · Tests &amp; corrections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65760" y="4626864"/>
            <a:ext cx="8412480" cy="365760"/>
          </a:xfrm>
          <a:prstGeom prst="roundRect">
            <a:avLst>
              <a:gd name="adj" fmla="val 15000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626864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62686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Aymen Haska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103120" y="46268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de connexion · Espace Etudiant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PARTIE ENTREPRENEURIAT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 commerciale de la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114800" cy="1920240"/>
          </a:xfrm>
          <a:prstGeom prst="roundRect">
            <a:avLst>
              <a:gd name="adj" fmla="val 4762"/>
            </a:avLst>
          </a:prstGeom>
          <a:solidFill>
            <a:srgbClr val="1A2356"/>
          </a:solidFill>
          <a:ln w="12700">
            <a:solidFill>
              <a:srgbClr val="1A235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25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SaaS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annuelle par etablissement
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300 etu :  </a:t>
            </a:r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MAD/an
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301-800 etu : </a:t>
            </a:r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15 000 MAD/an
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800 etu :  </a:t>
            </a:r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MAD/an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3310128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6350">
            <a:solidFill>
              <a:srgbClr val="D1D9E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3401568"/>
            <a:ext cx="1234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92%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brute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11680" y="3401568"/>
            <a:ext cx="1234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8 640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11680" y="3968496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 investissement initial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83280" y="3401568"/>
            <a:ext cx="1234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client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83280" y="3968496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de rentabilite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846320" y="12618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169164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10B981">
              <a:alpha val="12000"/>
            </a:srgbClr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72821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2039112"/>
            <a:ext cx="17373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 au Maroc · Stack moderne · Deploiement immediat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0" y="169164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EF4444">
              <a:alpha val="12000"/>
            </a:srgbClr>
          </a:solidFill>
          <a:ln w="10160">
            <a:solidFill>
              <a:srgbClr val="E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172821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Faiblesses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0" y="2039112"/>
            <a:ext cx="17373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sans reference · Dependance cloud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46320" y="28803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3B82F6">
              <a:alpha val="12000"/>
            </a:srgbClr>
          </a:solidFill>
          <a:ln w="1016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91693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37760" y="3227832"/>
            <a:ext cx="17373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900+ ecoles privees · EdTech en croissance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858000" y="28803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59E0B">
              <a:alpha val="12000"/>
            </a:srgbClr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291693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Menaces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949440" y="3227832"/>
            <a:ext cx="17373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vente long · Resistance au changement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46320" y="411480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EEF2FF"/>
          </a:solidFill>
          <a:ln w="6350">
            <a:solidFill>
              <a:srgbClr val="3B82F6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4215384"/>
            <a:ext cx="384048" cy="384048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5486400" y="4114800"/>
            <a:ext cx="3200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 juridique : SARL · Conformite CNDP (loi 09-08)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3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CONCLUSION &amp; PERSPECTIVES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Bilan et perspectives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1389888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965960"/>
            <a:ext cx="19202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espaces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542032" y="128016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1389888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542032" y="1965960"/>
            <a:ext cx="19202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securisee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code unique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626864" y="128016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1389888"/>
            <a:ext cx="502920" cy="5029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626864" y="1965960"/>
            <a:ext cx="19202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+ Cloudinary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711696" y="128016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253070"/>
          </a:solidFill>
          <a:ln w="12700">
            <a:solidFill>
              <a:srgbClr val="1E2B63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1389888"/>
            <a:ext cx="502920" cy="5029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711696" y="1965960"/>
            <a:ext cx="19202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Vercel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futures</a:t>
            </a:r>
            <a:endParaRPr lang="en-US" sz="14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456432"/>
            <a:ext cx="384048" cy="38404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69264" y="3337560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statistiques &amp; BI pour l'administration</a:t>
            </a:r>
            <a:endParaRPr lang="en-US" sz="12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3456432"/>
            <a:ext cx="384048" cy="38404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312664" y="3337560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mobile React Native / Expo</a:t>
            </a:r>
            <a:endParaRPr lang="en-US" sz="12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169664"/>
            <a:ext cx="384048" cy="38404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969264" y="4050792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parent dedie</a:t>
            </a:r>
            <a:endParaRPr lang="en-US" sz="12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4169664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5312664" y="4050792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vers d'autres pays francophones d'Afrique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3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3200400"/>
            <a:ext cx="3657600" cy="365760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914400"/>
            <a:ext cx="2743200" cy="2743200"/>
          </a:xfrm>
          <a:prstGeom prst="ellipse">
            <a:avLst/>
          </a:prstGeom>
          <a:solidFill>
            <a:srgbClr val="60A5FA">
              <a:alpha val="15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1887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208483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9718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Ayoub Ezziani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355848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Yasser Mohdiq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398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Aymen Haska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5262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EMSI — 4DSI — 2025/2026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Gestion Academique des Etudiants</dc:title>
  <dc:subject>PptxGenJS Presentation</dc:subject>
  <dc:creator>Ayoub Ezziani, Yasser Mohdiq, Aymen Haska</dc:creator>
  <cp:lastModifiedBy>Ayoub Ezziani, Yasser Mohdiq, Aymen Haska</cp:lastModifiedBy>
  <cp:revision>1</cp:revision>
  <dcterms:created xsi:type="dcterms:W3CDTF">2026-06-22T10:47:56Z</dcterms:created>
  <dcterms:modified xsi:type="dcterms:W3CDTF">2026-06-22T10:47:56Z</dcterms:modified>
</cp:coreProperties>
</file>